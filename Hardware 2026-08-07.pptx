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Economica"/>
      <p:regular r:id="rId13"/>
      <p:bold r:id="rId14"/>
      <p:italic r:id="rId15"/>
      <p:boldItalic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Economica-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Economica-italic.fntdata"/><Relationship Id="rId14" Type="http://schemas.openxmlformats.org/officeDocument/2006/relationships/font" Target="fonts/Economica-bold.fntdata"/><Relationship Id="rId17" Type="http://schemas.openxmlformats.org/officeDocument/2006/relationships/font" Target="fonts/OpenSans-regular.fntdata"/><Relationship Id="rId16" Type="http://schemas.openxmlformats.org/officeDocument/2006/relationships/font" Target="fonts/Economica-boldItalic.fntdata"/><Relationship Id="rId5" Type="http://schemas.openxmlformats.org/officeDocument/2006/relationships/notesMaster" Target="notesMasters/notesMaster1.xml"/><Relationship Id="rId19" Type="http://schemas.openxmlformats.org/officeDocument/2006/relationships/font" Target="fonts/OpenSans-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98e9925a1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98e9925a1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98e9925a1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98e9925a1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98f234bc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98f234bc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98f234bc5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98f234bc5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98f234bc5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98f234bc5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98f234bc5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98f234bc5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22.jpg"/><Relationship Id="rId5" Type="http://schemas.openxmlformats.org/officeDocument/2006/relationships/image" Target="../media/image3.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14.jpg"/><Relationship Id="rId5" Type="http://schemas.openxmlformats.org/officeDocument/2006/relationships/image" Target="../media/image7.jpg"/><Relationship Id="rId6" Type="http://schemas.openxmlformats.org/officeDocument/2006/relationships/image" Target="../media/image4.jpg"/><Relationship Id="rId7"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jpg"/><Relationship Id="rId4" Type="http://schemas.openxmlformats.org/officeDocument/2006/relationships/image" Target="../media/image10.jpg"/><Relationship Id="rId5" Type="http://schemas.openxmlformats.org/officeDocument/2006/relationships/image" Target="../media/image6.jpg"/><Relationship Id="rId6" Type="http://schemas.openxmlformats.org/officeDocument/2006/relationships/image" Target="../media/image1.jpg"/><Relationship Id="rId7" Type="http://schemas.openxmlformats.org/officeDocument/2006/relationships/image" Target="../media/image2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jpg"/><Relationship Id="rId4" Type="http://schemas.openxmlformats.org/officeDocument/2006/relationships/image" Target="../media/image2.jpg"/><Relationship Id="rId5" Type="http://schemas.openxmlformats.org/officeDocument/2006/relationships/image" Target="../media/image5.jpg"/><Relationship Id="rId6" Type="http://schemas.openxmlformats.org/officeDocument/2006/relationships/image" Target="../media/image21.jpg"/><Relationship Id="rId7"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4.jpg"/><Relationship Id="rId4" Type="http://schemas.openxmlformats.org/officeDocument/2006/relationships/image" Target="../media/image18.jpg"/><Relationship Id="rId5" Type="http://schemas.openxmlformats.org/officeDocument/2006/relationships/image" Target="../media/image9.jpg"/><Relationship Id="rId6"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sz="6100"/>
              <a:t> </a:t>
            </a:r>
            <a:r>
              <a:rPr b="1" lang="en-GB" sz="6100"/>
              <a:t>Hardware </a:t>
            </a:r>
            <a:endParaRPr b="1" sz="6100"/>
          </a:p>
        </p:txBody>
      </p:sp>
      <p:sp>
        <p:nvSpPr>
          <p:cNvPr id="63" name="Google Shape;63;p13"/>
          <p:cNvSpPr txBox="1"/>
          <p:nvPr>
            <p:ph idx="1" type="subTitle"/>
          </p:nvPr>
        </p:nvSpPr>
        <p:spPr>
          <a:xfrm>
            <a:off x="324650" y="4338575"/>
            <a:ext cx="8008200" cy="804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GB" sz="2586"/>
              <a:t>Presented by : Sneha Sadhu</a:t>
            </a:r>
            <a:endParaRPr b="1" sz="2586"/>
          </a:p>
          <a:p>
            <a:pPr indent="0" lvl="0" marL="0" rtl="0" algn="l">
              <a:spcBef>
                <a:spcPts val="0"/>
              </a:spcBef>
              <a:spcAft>
                <a:spcPts val="0"/>
              </a:spcAft>
              <a:buNone/>
            </a:pPr>
            <a:r>
              <a:rPr b="1" lang="en-GB" sz="2586"/>
              <a:t>Course           : Cyber Security</a:t>
            </a:r>
            <a:endParaRPr b="1" sz="2586"/>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95250"/>
            <a:ext cx="8520600" cy="991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 </a:t>
            </a:r>
            <a:r>
              <a:rPr b="1" lang="en-GB"/>
              <a:t>What is Hardware ?</a:t>
            </a:r>
            <a:endParaRPr b="1"/>
          </a:p>
        </p:txBody>
      </p:sp>
      <p:sp>
        <p:nvSpPr>
          <p:cNvPr id="69" name="Google Shape;69;p14"/>
          <p:cNvSpPr txBox="1"/>
          <p:nvPr>
            <p:ph idx="1" type="body"/>
          </p:nvPr>
        </p:nvSpPr>
        <p:spPr>
          <a:xfrm>
            <a:off x="0" y="1248575"/>
            <a:ext cx="8520600" cy="5143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Hardware means the</a:t>
            </a:r>
            <a:r>
              <a:rPr b="1" lang="en-GB"/>
              <a:t> physical parts of a computer.</a:t>
            </a:r>
            <a:endParaRPr/>
          </a:p>
          <a:p>
            <a:pPr indent="-342900" lvl="0" marL="457200" rtl="0" algn="l">
              <a:spcBef>
                <a:spcPts val="0"/>
              </a:spcBef>
              <a:spcAft>
                <a:spcPts val="0"/>
              </a:spcAft>
              <a:buSzPts val="1800"/>
              <a:buChar char="●"/>
            </a:pPr>
            <a:r>
              <a:rPr lang="en-GB"/>
              <a:t>We can </a:t>
            </a:r>
            <a:r>
              <a:rPr b="1" lang="en-GB"/>
              <a:t>see and touch </a:t>
            </a:r>
            <a:r>
              <a:rPr lang="en-GB"/>
              <a:t>hardware.</a:t>
            </a:r>
            <a:endParaRPr/>
          </a:p>
          <a:p>
            <a:pPr indent="-342900" lvl="0" marL="457200" rtl="0" algn="l">
              <a:spcBef>
                <a:spcPts val="0"/>
              </a:spcBef>
              <a:spcAft>
                <a:spcPts val="0"/>
              </a:spcAft>
              <a:buSzPts val="1800"/>
              <a:buChar char="●"/>
            </a:pPr>
            <a:r>
              <a:rPr lang="en-GB"/>
              <a:t>Examples : CPU , RAM , Keyboard , Mouse and Monitor.,</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b="1"/>
          </a:p>
          <a:p>
            <a:pPr indent="0" lvl="0" marL="0" rtl="0" algn="l">
              <a:spcBef>
                <a:spcPts val="1200"/>
              </a:spcBef>
              <a:spcAft>
                <a:spcPts val="1200"/>
              </a:spcAft>
              <a:buNone/>
            </a:pPr>
            <a:r>
              <a:t/>
            </a:r>
            <a:endParaRPr b="1"/>
          </a:p>
        </p:txBody>
      </p:sp>
      <p:pic>
        <p:nvPicPr>
          <p:cNvPr descr="Circuit board. Technology background. Central Computer Processors CPU concept. Motherboard digital chip. Tech science background. Integrated communication processor. 3D illustration (provided by Getty Images)" id="70" name="Google Shape;70;p14"/>
          <p:cNvPicPr preferRelativeResize="0"/>
          <p:nvPr/>
        </p:nvPicPr>
        <p:blipFill>
          <a:blip r:embed="rId3">
            <a:alphaModFix/>
          </a:blip>
          <a:stretch>
            <a:fillRect/>
          </a:stretch>
        </p:blipFill>
        <p:spPr>
          <a:xfrm>
            <a:off x="6844150" y="1248575"/>
            <a:ext cx="1854377" cy="1323176"/>
          </a:xfrm>
          <a:prstGeom prst="rect">
            <a:avLst/>
          </a:prstGeom>
          <a:noFill/>
          <a:ln>
            <a:noFill/>
          </a:ln>
        </p:spPr>
      </p:pic>
      <p:pic>
        <p:nvPicPr>
          <p:cNvPr descr="Circuit boards (provided by Getty Images)" id="71" name="Google Shape;71;p14"/>
          <p:cNvPicPr preferRelativeResize="0"/>
          <p:nvPr/>
        </p:nvPicPr>
        <p:blipFill rotWithShape="1">
          <a:blip r:embed="rId4">
            <a:alphaModFix/>
          </a:blip>
          <a:srcRect b="237290" l="215420" r="-215420" t="-237290"/>
          <a:stretch/>
        </p:blipFill>
        <p:spPr>
          <a:xfrm>
            <a:off x="4318350" y="0"/>
            <a:ext cx="1969000" cy="1248573"/>
          </a:xfrm>
          <a:prstGeom prst="rect">
            <a:avLst/>
          </a:prstGeom>
          <a:noFill/>
          <a:ln>
            <a:noFill/>
          </a:ln>
        </p:spPr>
      </p:pic>
      <p:pic>
        <p:nvPicPr>
          <p:cNvPr descr="Person holding computer RAM (provided by Getty Images)" id="72" name="Google Shape;72;p14"/>
          <p:cNvPicPr preferRelativeResize="0"/>
          <p:nvPr/>
        </p:nvPicPr>
        <p:blipFill>
          <a:blip r:embed="rId5">
            <a:alphaModFix/>
          </a:blip>
          <a:stretch>
            <a:fillRect/>
          </a:stretch>
        </p:blipFill>
        <p:spPr>
          <a:xfrm>
            <a:off x="215300" y="3030949"/>
            <a:ext cx="1808051" cy="1377202"/>
          </a:xfrm>
          <a:prstGeom prst="rect">
            <a:avLst/>
          </a:prstGeom>
          <a:noFill/>
          <a:ln>
            <a:noFill/>
          </a:ln>
        </p:spPr>
      </p:pic>
      <p:pic>
        <p:nvPicPr>
          <p:cNvPr descr="side view of two illuminated RGB keyboards in the dark (provided by Getty Images)" id="73" name="Google Shape;73;p14"/>
          <p:cNvPicPr preferRelativeResize="0"/>
          <p:nvPr/>
        </p:nvPicPr>
        <p:blipFill>
          <a:blip r:embed="rId6">
            <a:alphaModFix/>
          </a:blip>
          <a:stretch>
            <a:fillRect/>
          </a:stretch>
        </p:blipFill>
        <p:spPr>
          <a:xfrm>
            <a:off x="2314472" y="3030950"/>
            <a:ext cx="2066330" cy="1377200"/>
          </a:xfrm>
          <a:prstGeom prst="rect">
            <a:avLst/>
          </a:prstGeom>
          <a:noFill/>
          <a:ln>
            <a:noFill/>
          </a:ln>
        </p:spPr>
      </p:pic>
      <p:pic>
        <p:nvPicPr>
          <p:cNvPr descr="Computer Mouse (provided by Getty Images)" id="74" name="Google Shape;74;p14"/>
          <p:cNvPicPr preferRelativeResize="0"/>
          <p:nvPr/>
        </p:nvPicPr>
        <p:blipFill>
          <a:blip r:embed="rId7">
            <a:alphaModFix/>
          </a:blip>
          <a:stretch>
            <a:fillRect/>
          </a:stretch>
        </p:blipFill>
        <p:spPr>
          <a:xfrm>
            <a:off x="4968450" y="3030950"/>
            <a:ext cx="1478801" cy="1480950"/>
          </a:xfrm>
          <a:prstGeom prst="rect">
            <a:avLst/>
          </a:prstGeom>
          <a:noFill/>
          <a:ln>
            <a:noFill/>
          </a:ln>
        </p:spPr>
      </p:pic>
      <p:pic>
        <p:nvPicPr>
          <p:cNvPr descr="Flat screen TV monitor, studio shot (provided by Getty Images)" id="75" name="Google Shape;75;p14"/>
          <p:cNvPicPr preferRelativeResize="0"/>
          <p:nvPr/>
        </p:nvPicPr>
        <p:blipFill>
          <a:blip r:embed="rId8">
            <a:alphaModFix/>
          </a:blip>
          <a:stretch>
            <a:fillRect/>
          </a:stretch>
        </p:blipFill>
        <p:spPr>
          <a:xfrm>
            <a:off x="6844151" y="2859224"/>
            <a:ext cx="2118999" cy="154892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Main Hardware Components</a:t>
            </a:r>
            <a:r>
              <a:rPr lang="en-GB"/>
              <a:t> </a:t>
            </a:r>
            <a:endParaRPr/>
          </a:p>
        </p:txBody>
      </p:sp>
      <p:sp>
        <p:nvSpPr>
          <p:cNvPr id="81" name="Google Shape;81;p1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GB"/>
              <a:t>CPU </a:t>
            </a:r>
            <a:r>
              <a:rPr lang="en-GB"/>
              <a:t>- Processes data .</a:t>
            </a:r>
            <a:endParaRPr/>
          </a:p>
          <a:p>
            <a:pPr indent="-342900" lvl="0" marL="457200" rtl="0" algn="l">
              <a:spcBef>
                <a:spcPts val="0"/>
              </a:spcBef>
              <a:spcAft>
                <a:spcPts val="0"/>
              </a:spcAft>
              <a:buSzPts val="1800"/>
              <a:buChar char="●"/>
            </a:pPr>
            <a:r>
              <a:rPr b="1" lang="en-GB"/>
              <a:t>RAM</a:t>
            </a:r>
            <a:r>
              <a:rPr lang="en-GB"/>
              <a:t> - Stores data temporarily .</a:t>
            </a:r>
            <a:endParaRPr/>
          </a:p>
          <a:p>
            <a:pPr indent="-342900" lvl="0" marL="457200" rtl="0" algn="l">
              <a:spcBef>
                <a:spcPts val="0"/>
              </a:spcBef>
              <a:spcAft>
                <a:spcPts val="0"/>
              </a:spcAft>
              <a:buSzPts val="1800"/>
              <a:buChar char="●"/>
            </a:pPr>
            <a:r>
              <a:rPr b="1" lang="en-GB"/>
              <a:t>Storage </a:t>
            </a:r>
            <a:r>
              <a:rPr lang="en-GB"/>
              <a:t>- Stores data permanently .</a:t>
            </a:r>
            <a:endParaRPr/>
          </a:p>
          <a:p>
            <a:pPr indent="-342900" lvl="0" marL="457200" rtl="0" algn="l">
              <a:spcBef>
                <a:spcPts val="0"/>
              </a:spcBef>
              <a:spcAft>
                <a:spcPts val="0"/>
              </a:spcAft>
              <a:buSzPts val="1800"/>
              <a:buChar char="●"/>
            </a:pPr>
            <a:r>
              <a:rPr b="1" lang="en-GB"/>
              <a:t>Motherboard</a:t>
            </a:r>
            <a:r>
              <a:rPr lang="en-GB"/>
              <a:t> - Connects all </a:t>
            </a:r>
            <a:r>
              <a:rPr lang="en-GB"/>
              <a:t>components</a:t>
            </a:r>
            <a:r>
              <a:rPr lang="en-GB"/>
              <a:t> . </a:t>
            </a:r>
            <a:endParaRPr/>
          </a:p>
          <a:p>
            <a:pPr indent="-342900" lvl="0" marL="457200" rtl="0" algn="l">
              <a:spcBef>
                <a:spcPts val="0"/>
              </a:spcBef>
              <a:spcAft>
                <a:spcPts val="0"/>
              </a:spcAft>
              <a:buSzPts val="1800"/>
              <a:buChar char="●"/>
            </a:pPr>
            <a:r>
              <a:rPr b="1" lang="en-GB"/>
              <a:t>SMPS/PSU</a:t>
            </a:r>
            <a:r>
              <a:rPr lang="en-GB"/>
              <a:t> - Provides power .</a:t>
            </a:r>
            <a:endParaRPr/>
          </a:p>
        </p:txBody>
      </p:sp>
      <p:pic>
        <p:nvPicPr>
          <p:cNvPr descr="Modern CPU and Motherboard Technology Background (provided by Getty Images)" id="82" name="Google Shape;82;p15"/>
          <p:cNvPicPr preferRelativeResize="0"/>
          <p:nvPr/>
        </p:nvPicPr>
        <p:blipFill>
          <a:blip r:embed="rId3">
            <a:alphaModFix/>
          </a:blip>
          <a:stretch>
            <a:fillRect/>
          </a:stretch>
        </p:blipFill>
        <p:spPr>
          <a:xfrm>
            <a:off x="6608343" y="1298374"/>
            <a:ext cx="2223949" cy="1572401"/>
          </a:xfrm>
          <a:prstGeom prst="rect">
            <a:avLst/>
          </a:prstGeom>
          <a:noFill/>
          <a:ln>
            <a:noFill/>
          </a:ln>
        </p:spPr>
      </p:pic>
      <p:pic>
        <p:nvPicPr>
          <p:cNvPr descr="close-up computer ram (provided by Getty Images)" id="83" name="Google Shape;83;p15"/>
          <p:cNvPicPr preferRelativeResize="0"/>
          <p:nvPr/>
        </p:nvPicPr>
        <p:blipFill>
          <a:blip r:embed="rId4">
            <a:alphaModFix/>
          </a:blip>
          <a:stretch>
            <a:fillRect/>
          </a:stretch>
        </p:blipFill>
        <p:spPr>
          <a:xfrm>
            <a:off x="611225" y="3201375"/>
            <a:ext cx="1366699" cy="1522376"/>
          </a:xfrm>
          <a:prstGeom prst="rect">
            <a:avLst/>
          </a:prstGeom>
          <a:noFill/>
          <a:ln>
            <a:noFill/>
          </a:ln>
        </p:spPr>
      </p:pic>
      <p:pic>
        <p:nvPicPr>
          <p:cNvPr descr="Close up of computer disk (provided by Getty Images)" id="84" name="Google Shape;84;p15"/>
          <p:cNvPicPr preferRelativeResize="0"/>
          <p:nvPr/>
        </p:nvPicPr>
        <p:blipFill>
          <a:blip r:embed="rId5">
            <a:alphaModFix/>
          </a:blip>
          <a:stretch>
            <a:fillRect/>
          </a:stretch>
        </p:blipFill>
        <p:spPr>
          <a:xfrm>
            <a:off x="2348051" y="3201372"/>
            <a:ext cx="2223949" cy="1469229"/>
          </a:xfrm>
          <a:prstGeom prst="rect">
            <a:avLst/>
          </a:prstGeom>
          <a:noFill/>
          <a:ln>
            <a:noFill/>
          </a:ln>
        </p:spPr>
      </p:pic>
      <p:pic>
        <p:nvPicPr>
          <p:cNvPr descr="0 (provided by Getty Images)" id="85" name="Google Shape;85;p15"/>
          <p:cNvPicPr preferRelativeResize="0"/>
          <p:nvPr/>
        </p:nvPicPr>
        <p:blipFill rotWithShape="1">
          <a:blip r:embed="rId6">
            <a:alphaModFix/>
          </a:blip>
          <a:srcRect b="0" l="7130" r="-7130" t="0"/>
          <a:stretch/>
        </p:blipFill>
        <p:spPr>
          <a:xfrm>
            <a:off x="4942125" y="3244875"/>
            <a:ext cx="2441052" cy="1321825"/>
          </a:xfrm>
          <a:prstGeom prst="rect">
            <a:avLst/>
          </a:prstGeom>
          <a:noFill/>
          <a:ln>
            <a:noFill/>
          </a:ln>
        </p:spPr>
      </p:pic>
      <p:pic>
        <p:nvPicPr>
          <p:cNvPr descr="Computer Fan and Power Box (provided by Getty Images)" id="86" name="Google Shape;86;p15"/>
          <p:cNvPicPr preferRelativeResize="0"/>
          <p:nvPr/>
        </p:nvPicPr>
        <p:blipFill rotWithShape="1">
          <a:blip r:embed="rId7">
            <a:alphaModFix/>
          </a:blip>
          <a:srcRect b="-7504" l="5225" r="-12728" t="0"/>
          <a:stretch/>
        </p:blipFill>
        <p:spPr>
          <a:xfrm>
            <a:off x="7544875" y="3201375"/>
            <a:ext cx="1469225" cy="1469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Input Devices </a:t>
            </a:r>
            <a:endParaRPr b="1"/>
          </a:p>
        </p:txBody>
      </p:sp>
      <p:sp>
        <p:nvSpPr>
          <p:cNvPr id="92" name="Google Shape;92;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Input devices are used to </a:t>
            </a:r>
            <a:r>
              <a:rPr b="1" lang="en-GB"/>
              <a:t>give data to the </a:t>
            </a:r>
            <a:r>
              <a:rPr b="1" lang="en-GB"/>
              <a:t>computer</a:t>
            </a:r>
            <a:r>
              <a:rPr lang="en-GB"/>
              <a:t> .</a:t>
            </a:r>
            <a:endParaRPr/>
          </a:p>
          <a:p>
            <a:pPr indent="-342900" lvl="0" marL="457200" rtl="0" algn="l">
              <a:spcBef>
                <a:spcPts val="1200"/>
              </a:spcBef>
              <a:spcAft>
                <a:spcPts val="0"/>
              </a:spcAft>
              <a:buSzPts val="1800"/>
              <a:buChar char="●"/>
            </a:pPr>
            <a:r>
              <a:rPr lang="en-GB"/>
              <a:t>Keyboard</a:t>
            </a:r>
            <a:endParaRPr/>
          </a:p>
          <a:p>
            <a:pPr indent="-342900" lvl="0" marL="457200" rtl="0" algn="l">
              <a:spcBef>
                <a:spcPts val="0"/>
              </a:spcBef>
              <a:spcAft>
                <a:spcPts val="0"/>
              </a:spcAft>
              <a:buSzPts val="1800"/>
              <a:buChar char="●"/>
            </a:pPr>
            <a:r>
              <a:rPr lang="en-GB"/>
              <a:t>Mouse</a:t>
            </a:r>
            <a:endParaRPr/>
          </a:p>
          <a:p>
            <a:pPr indent="-342900" lvl="0" marL="457200" rtl="0" algn="l">
              <a:spcBef>
                <a:spcPts val="0"/>
              </a:spcBef>
              <a:spcAft>
                <a:spcPts val="0"/>
              </a:spcAft>
              <a:buSzPts val="1800"/>
              <a:buChar char="●"/>
            </a:pPr>
            <a:r>
              <a:rPr lang="en-GB"/>
              <a:t>Scanner</a:t>
            </a:r>
            <a:endParaRPr/>
          </a:p>
          <a:p>
            <a:pPr indent="-342900" lvl="0" marL="457200" rtl="0" algn="l">
              <a:spcBef>
                <a:spcPts val="0"/>
              </a:spcBef>
              <a:spcAft>
                <a:spcPts val="0"/>
              </a:spcAft>
              <a:buSzPts val="1800"/>
              <a:buChar char="●"/>
            </a:pPr>
            <a:r>
              <a:rPr lang="en-GB"/>
              <a:t>Microphone</a:t>
            </a:r>
            <a:endParaRPr/>
          </a:p>
          <a:p>
            <a:pPr indent="-342900" lvl="0" marL="457200" rtl="0" algn="l">
              <a:spcBef>
                <a:spcPts val="0"/>
              </a:spcBef>
              <a:spcAft>
                <a:spcPts val="0"/>
              </a:spcAft>
              <a:buSzPts val="1800"/>
              <a:buChar char="●"/>
            </a:pPr>
            <a:r>
              <a:rPr lang="en-GB"/>
              <a:t>Webcam</a:t>
            </a:r>
            <a:endParaRPr/>
          </a:p>
          <a:p>
            <a:pPr indent="0" lvl="0" marL="0" rtl="0" algn="l">
              <a:spcBef>
                <a:spcPts val="1200"/>
              </a:spcBef>
              <a:spcAft>
                <a:spcPts val="1200"/>
              </a:spcAft>
              <a:buNone/>
            </a:pPr>
            <a:r>
              <a:t/>
            </a:r>
            <a:endParaRPr/>
          </a:p>
        </p:txBody>
      </p:sp>
      <p:pic>
        <p:nvPicPr>
          <p:cNvPr descr="Keyboard for computer (provided by Getty Images)" id="93" name="Google Shape;93;p16"/>
          <p:cNvPicPr preferRelativeResize="0"/>
          <p:nvPr/>
        </p:nvPicPr>
        <p:blipFill>
          <a:blip r:embed="rId3">
            <a:alphaModFix/>
          </a:blip>
          <a:stretch>
            <a:fillRect/>
          </a:stretch>
        </p:blipFill>
        <p:spPr>
          <a:xfrm flipH="1">
            <a:off x="3270325" y="1783500"/>
            <a:ext cx="2149350" cy="1428349"/>
          </a:xfrm>
          <a:prstGeom prst="rect">
            <a:avLst/>
          </a:prstGeom>
          <a:noFill/>
          <a:ln>
            <a:noFill/>
          </a:ln>
        </p:spPr>
      </p:pic>
      <p:pic>
        <p:nvPicPr>
          <p:cNvPr descr="Computer Mouse (provided by Getty Images)" id="94" name="Google Shape;94;p16"/>
          <p:cNvPicPr preferRelativeResize="0"/>
          <p:nvPr/>
        </p:nvPicPr>
        <p:blipFill>
          <a:blip r:embed="rId4">
            <a:alphaModFix/>
          </a:blip>
          <a:stretch>
            <a:fillRect/>
          </a:stretch>
        </p:blipFill>
        <p:spPr>
          <a:xfrm>
            <a:off x="6087251" y="1783499"/>
            <a:ext cx="2149350" cy="1429402"/>
          </a:xfrm>
          <a:prstGeom prst="rect">
            <a:avLst/>
          </a:prstGeom>
          <a:noFill/>
          <a:ln>
            <a:noFill/>
          </a:ln>
        </p:spPr>
      </p:pic>
      <p:pic>
        <p:nvPicPr>
          <p:cNvPr descr="Flatbed scanner (provided by Getty Images)" id="95" name="Google Shape;95;p16"/>
          <p:cNvPicPr preferRelativeResize="0"/>
          <p:nvPr/>
        </p:nvPicPr>
        <p:blipFill>
          <a:blip r:embed="rId5">
            <a:alphaModFix/>
          </a:blip>
          <a:stretch>
            <a:fillRect/>
          </a:stretch>
        </p:blipFill>
        <p:spPr>
          <a:xfrm>
            <a:off x="872225" y="3489200"/>
            <a:ext cx="2042348" cy="1547724"/>
          </a:xfrm>
          <a:prstGeom prst="rect">
            <a:avLst/>
          </a:prstGeom>
          <a:noFill/>
          <a:ln>
            <a:noFill/>
          </a:ln>
        </p:spPr>
      </p:pic>
      <p:pic>
        <p:nvPicPr>
          <p:cNvPr descr="Microphone accessory with laptop computer (provided by Getty Images)" id="96" name="Google Shape;96;p16"/>
          <p:cNvPicPr preferRelativeResize="0"/>
          <p:nvPr/>
        </p:nvPicPr>
        <p:blipFill>
          <a:blip r:embed="rId6">
            <a:alphaModFix/>
          </a:blip>
          <a:stretch>
            <a:fillRect/>
          </a:stretch>
        </p:blipFill>
        <p:spPr>
          <a:xfrm>
            <a:off x="3450900" y="3489200"/>
            <a:ext cx="2242202" cy="1494426"/>
          </a:xfrm>
          <a:prstGeom prst="rect">
            <a:avLst/>
          </a:prstGeom>
          <a:noFill/>
          <a:ln>
            <a:noFill/>
          </a:ln>
        </p:spPr>
      </p:pic>
      <p:pic>
        <p:nvPicPr>
          <p:cNvPr descr="Clip-on webcam mounted on laptop computer (provided by Getty Images)" id="97" name="Google Shape;97;p16"/>
          <p:cNvPicPr preferRelativeResize="0"/>
          <p:nvPr/>
        </p:nvPicPr>
        <p:blipFill>
          <a:blip r:embed="rId7">
            <a:alphaModFix/>
          </a:blip>
          <a:stretch>
            <a:fillRect/>
          </a:stretch>
        </p:blipFill>
        <p:spPr>
          <a:xfrm>
            <a:off x="6428775" y="3489207"/>
            <a:ext cx="2149350" cy="14336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Output Devices</a:t>
            </a:r>
            <a:endParaRPr b="1"/>
          </a:p>
        </p:txBody>
      </p:sp>
      <p:sp>
        <p:nvSpPr>
          <p:cNvPr id="103" name="Google Shape;103;p1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Output devices show the</a:t>
            </a:r>
            <a:r>
              <a:rPr b="1" lang="en-GB"/>
              <a:t> result from the computer .</a:t>
            </a:r>
            <a:endParaRPr b="1"/>
          </a:p>
          <a:p>
            <a:pPr indent="-342900" lvl="0" marL="457200" rtl="0" algn="l">
              <a:spcBef>
                <a:spcPts val="1200"/>
              </a:spcBef>
              <a:spcAft>
                <a:spcPts val="0"/>
              </a:spcAft>
              <a:buSzPts val="1800"/>
              <a:buChar char="●"/>
            </a:pPr>
            <a:r>
              <a:rPr lang="en-GB"/>
              <a:t>Monitor </a:t>
            </a:r>
            <a:endParaRPr/>
          </a:p>
          <a:p>
            <a:pPr indent="-342900" lvl="0" marL="457200" rtl="0" algn="l">
              <a:spcBef>
                <a:spcPts val="0"/>
              </a:spcBef>
              <a:spcAft>
                <a:spcPts val="0"/>
              </a:spcAft>
              <a:buSzPts val="1800"/>
              <a:buChar char="●"/>
            </a:pPr>
            <a:r>
              <a:rPr lang="en-GB"/>
              <a:t>Printer</a:t>
            </a:r>
            <a:endParaRPr/>
          </a:p>
          <a:p>
            <a:pPr indent="-342900" lvl="0" marL="457200" rtl="0" algn="l">
              <a:spcBef>
                <a:spcPts val="0"/>
              </a:spcBef>
              <a:spcAft>
                <a:spcPts val="0"/>
              </a:spcAft>
              <a:buSzPts val="1800"/>
              <a:buChar char="●"/>
            </a:pPr>
            <a:r>
              <a:rPr lang="en-GB"/>
              <a:t>Speaker</a:t>
            </a:r>
            <a:endParaRPr/>
          </a:p>
          <a:p>
            <a:pPr indent="-342900" lvl="0" marL="457200" rtl="0" algn="l">
              <a:spcBef>
                <a:spcPts val="0"/>
              </a:spcBef>
              <a:spcAft>
                <a:spcPts val="0"/>
              </a:spcAft>
              <a:buSzPts val="1800"/>
              <a:buChar char="●"/>
            </a:pPr>
            <a:r>
              <a:rPr lang="en-GB"/>
              <a:t>Projector</a:t>
            </a:r>
            <a:endParaRPr/>
          </a:p>
          <a:p>
            <a:pPr indent="-342900" lvl="0" marL="457200" rtl="0" algn="l">
              <a:spcBef>
                <a:spcPts val="0"/>
              </a:spcBef>
              <a:spcAft>
                <a:spcPts val="0"/>
              </a:spcAft>
              <a:buSzPts val="1800"/>
              <a:buChar char="●"/>
            </a:pPr>
            <a:r>
              <a:rPr lang="en-GB"/>
              <a:t>Headphones</a:t>
            </a:r>
            <a:endParaRPr/>
          </a:p>
          <a:p>
            <a:pPr indent="0" lvl="0" marL="914400" rtl="0" algn="l">
              <a:spcBef>
                <a:spcPts val="1200"/>
              </a:spcBef>
              <a:spcAft>
                <a:spcPts val="0"/>
              </a:spcAft>
              <a:buNone/>
            </a:pPr>
            <a:r>
              <a:t/>
            </a:r>
            <a:endParaRPr/>
          </a:p>
          <a:p>
            <a:pPr indent="0" lvl="0" marL="0" rtl="0" algn="l">
              <a:spcBef>
                <a:spcPts val="1200"/>
              </a:spcBef>
              <a:spcAft>
                <a:spcPts val="1200"/>
              </a:spcAft>
              <a:buNone/>
            </a:pPr>
            <a:r>
              <a:t/>
            </a:r>
            <a:endParaRPr b="1"/>
          </a:p>
        </p:txBody>
      </p:sp>
      <p:pic>
        <p:nvPicPr>
          <p:cNvPr descr="Monitor isolated (provided by Getty Images)" id="104" name="Google Shape;104;p17"/>
          <p:cNvPicPr preferRelativeResize="0"/>
          <p:nvPr/>
        </p:nvPicPr>
        <p:blipFill>
          <a:blip r:embed="rId3">
            <a:alphaModFix/>
          </a:blip>
          <a:stretch>
            <a:fillRect/>
          </a:stretch>
        </p:blipFill>
        <p:spPr>
          <a:xfrm>
            <a:off x="3449699" y="1818901"/>
            <a:ext cx="1943101" cy="1505702"/>
          </a:xfrm>
          <a:prstGeom prst="rect">
            <a:avLst/>
          </a:prstGeom>
          <a:noFill/>
          <a:ln>
            <a:noFill/>
          </a:ln>
        </p:spPr>
      </p:pic>
      <p:pic>
        <p:nvPicPr>
          <p:cNvPr descr="Ink-jet printer (provided by Getty Images)" id="105" name="Google Shape;105;p17"/>
          <p:cNvPicPr preferRelativeResize="0"/>
          <p:nvPr/>
        </p:nvPicPr>
        <p:blipFill>
          <a:blip r:embed="rId4">
            <a:alphaModFix/>
          </a:blip>
          <a:stretch>
            <a:fillRect/>
          </a:stretch>
        </p:blipFill>
        <p:spPr>
          <a:xfrm>
            <a:off x="6287475" y="1818900"/>
            <a:ext cx="1702099" cy="1505700"/>
          </a:xfrm>
          <a:prstGeom prst="rect">
            <a:avLst/>
          </a:prstGeom>
          <a:noFill/>
          <a:ln>
            <a:noFill/>
          </a:ln>
        </p:spPr>
      </p:pic>
      <p:pic>
        <p:nvPicPr>
          <p:cNvPr descr="Two speakers (provided by Getty Images)" id="106" name="Google Shape;106;p17"/>
          <p:cNvPicPr preferRelativeResize="0"/>
          <p:nvPr/>
        </p:nvPicPr>
        <p:blipFill>
          <a:blip r:embed="rId5">
            <a:alphaModFix/>
          </a:blip>
          <a:stretch>
            <a:fillRect/>
          </a:stretch>
        </p:blipFill>
        <p:spPr>
          <a:xfrm>
            <a:off x="1166175" y="3409825"/>
            <a:ext cx="2459351" cy="1556302"/>
          </a:xfrm>
          <a:prstGeom prst="rect">
            <a:avLst/>
          </a:prstGeom>
          <a:noFill/>
          <a:ln>
            <a:noFill/>
          </a:ln>
        </p:spPr>
      </p:pic>
      <p:pic>
        <p:nvPicPr>
          <p:cNvPr descr="Businessmen and women watching film, projector on table (provided by Getty Images)" id="107" name="Google Shape;107;p17"/>
          <p:cNvPicPr preferRelativeResize="0"/>
          <p:nvPr/>
        </p:nvPicPr>
        <p:blipFill>
          <a:blip r:embed="rId6">
            <a:alphaModFix/>
          </a:blip>
          <a:stretch>
            <a:fillRect/>
          </a:stretch>
        </p:blipFill>
        <p:spPr>
          <a:xfrm>
            <a:off x="4211776" y="3585575"/>
            <a:ext cx="1862548" cy="1380549"/>
          </a:xfrm>
          <a:prstGeom prst="rect">
            <a:avLst/>
          </a:prstGeom>
          <a:noFill/>
          <a:ln>
            <a:noFill/>
          </a:ln>
        </p:spPr>
      </p:pic>
      <p:pic>
        <p:nvPicPr>
          <p:cNvPr descr="Close-up headphones (provided by Getty Images)" id="108" name="Google Shape;108;p17"/>
          <p:cNvPicPr preferRelativeResize="0"/>
          <p:nvPr/>
        </p:nvPicPr>
        <p:blipFill>
          <a:blip r:embed="rId7">
            <a:alphaModFix/>
          </a:blip>
          <a:stretch>
            <a:fillRect/>
          </a:stretch>
        </p:blipFill>
        <p:spPr>
          <a:xfrm>
            <a:off x="6762375" y="3585575"/>
            <a:ext cx="1468426" cy="12926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311575"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Storage Devices </a:t>
            </a:r>
            <a:endParaRPr b="1"/>
          </a:p>
        </p:txBody>
      </p:sp>
      <p:sp>
        <p:nvSpPr>
          <p:cNvPr id="114" name="Google Shape;114;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Storage devices are used to </a:t>
            </a:r>
            <a:r>
              <a:rPr b="1" lang="en-GB"/>
              <a:t>save devices</a:t>
            </a:r>
            <a:endParaRPr b="1"/>
          </a:p>
          <a:p>
            <a:pPr indent="-342900" lvl="0" marL="457200" rtl="0" algn="l">
              <a:spcBef>
                <a:spcPts val="1200"/>
              </a:spcBef>
              <a:spcAft>
                <a:spcPts val="0"/>
              </a:spcAft>
              <a:buSzPts val="1800"/>
              <a:buChar char="●"/>
            </a:pPr>
            <a:r>
              <a:rPr lang="en-GB"/>
              <a:t>HDD</a:t>
            </a:r>
            <a:endParaRPr/>
          </a:p>
          <a:p>
            <a:pPr indent="-342900" lvl="0" marL="457200" rtl="0" algn="l">
              <a:spcBef>
                <a:spcPts val="0"/>
              </a:spcBef>
              <a:spcAft>
                <a:spcPts val="0"/>
              </a:spcAft>
              <a:buSzPts val="1800"/>
              <a:buChar char="●"/>
            </a:pPr>
            <a:r>
              <a:rPr lang="en-GB"/>
              <a:t>SSD</a:t>
            </a:r>
            <a:endParaRPr/>
          </a:p>
          <a:p>
            <a:pPr indent="-342900" lvl="0" marL="457200" rtl="0" algn="l">
              <a:spcBef>
                <a:spcPts val="0"/>
              </a:spcBef>
              <a:spcAft>
                <a:spcPts val="0"/>
              </a:spcAft>
              <a:buSzPts val="1800"/>
              <a:buChar char="●"/>
            </a:pPr>
            <a:r>
              <a:rPr lang="en-GB"/>
              <a:t>USB Drive</a:t>
            </a:r>
            <a:endParaRPr/>
          </a:p>
          <a:p>
            <a:pPr indent="-342900" lvl="0" marL="457200" rtl="0" algn="l">
              <a:spcBef>
                <a:spcPts val="0"/>
              </a:spcBef>
              <a:spcAft>
                <a:spcPts val="0"/>
              </a:spcAft>
              <a:buSzPts val="1800"/>
              <a:buChar char="●"/>
            </a:pPr>
            <a:r>
              <a:rPr lang="en-GB"/>
              <a:t>Memory Card</a:t>
            </a:r>
            <a:endParaRPr/>
          </a:p>
          <a:p>
            <a:pPr indent="0" lvl="0" marL="0" rtl="0" algn="l">
              <a:spcBef>
                <a:spcPts val="1200"/>
              </a:spcBef>
              <a:spcAft>
                <a:spcPts val="1200"/>
              </a:spcAft>
              <a:buNone/>
            </a:pPr>
            <a:r>
              <a:t/>
            </a:r>
            <a:endParaRPr/>
          </a:p>
        </p:txBody>
      </p:sp>
      <p:pic>
        <p:nvPicPr>
          <p:cNvPr descr="Inside of a Hard disk (provided by Getty Images)" id="115" name="Google Shape;115;p18"/>
          <p:cNvPicPr preferRelativeResize="0"/>
          <p:nvPr/>
        </p:nvPicPr>
        <p:blipFill>
          <a:blip r:embed="rId3">
            <a:alphaModFix/>
          </a:blip>
          <a:stretch>
            <a:fillRect/>
          </a:stretch>
        </p:blipFill>
        <p:spPr>
          <a:xfrm>
            <a:off x="311575" y="3299675"/>
            <a:ext cx="2308250" cy="1588049"/>
          </a:xfrm>
          <a:prstGeom prst="rect">
            <a:avLst/>
          </a:prstGeom>
          <a:noFill/>
          <a:ln>
            <a:noFill/>
          </a:ln>
        </p:spPr>
      </p:pic>
      <p:pic>
        <p:nvPicPr>
          <p:cNvPr descr="Solid state drive line and solid icon. Data memory storage, hard drive symbol, outline style pictogram on white background. Technology item sign for mobile concept and web design. Vector graphics. (provided by Getty Images)" id="116" name="Google Shape;116;p18"/>
          <p:cNvPicPr preferRelativeResize="0"/>
          <p:nvPr/>
        </p:nvPicPr>
        <p:blipFill>
          <a:blip r:embed="rId4">
            <a:alphaModFix/>
          </a:blip>
          <a:stretch>
            <a:fillRect/>
          </a:stretch>
        </p:blipFill>
        <p:spPr>
          <a:xfrm>
            <a:off x="2932800" y="3326875"/>
            <a:ext cx="1588050" cy="1560852"/>
          </a:xfrm>
          <a:prstGeom prst="rect">
            <a:avLst/>
          </a:prstGeom>
          <a:noFill/>
          <a:ln>
            <a:noFill/>
          </a:ln>
        </p:spPr>
      </p:pic>
      <p:pic>
        <p:nvPicPr>
          <p:cNvPr descr="Close up of usb flash drive, close-up (provided by Getty Images)" id="117" name="Google Shape;117;p18"/>
          <p:cNvPicPr preferRelativeResize="0"/>
          <p:nvPr/>
        </p:nvPicPr>
        <p:blipFill>
          <a:blip r:embed="rId5">
            <a:alphaModFix/>
          </a:blip>
          <a:stretch>
            <a:fillRect/>
          </a:stretch>
        </p:blipFill>
        <p:spPr>
          <a:xfrm>
            <a:off x="4893875" y="3326875"/>
            <a:ext cx="2119301" cy="1412526"/>
          </a:xfrm>
          <a:prstGeom prst="rect">
            <a:avLst/>
          </a:prstGeom>
          <a:noFill/>
          <a:ln>
            <a:noFill/>
          </a:ln>
        </p:spPr>
      </p:pic>
      <p:pic>
        <p:nvPicPr>
          <p:cNvPr descr="memory card color icon vector illustration (provided by Getty Images)" id="118" name="Google Shape;118;p18"/>
          <p:cNvPicPr preferRelativeResize="0"/>
          <p:nvPr/>
        </p:nvPicPr>
        <p:blipFill>
          <a:blip r:embed="rId6">
            <a:alphaModFix/>
          </a:blip>
          <a:stretch>
            <a:fillRect/>
          </a:stretch>
        </p:blipFill>
        <p:spPr>
          <a:xfrm>
            <a:off x="7386200" y="3325038"/>
            <a:ext cx="1537326" cy="1537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Thank You </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